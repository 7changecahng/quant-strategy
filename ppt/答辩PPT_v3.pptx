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1A3A5C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多因子量化策略分析平台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基于复合技术指标的沪深300成分股择时策略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财经数据分析综合实践 · 第十四讲 · 课程设计答辩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组员：张三 · 李四 · 王五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6 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汇报大纲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48640" cy="548640"/>
          </a:xfrm>
          <a:prstGeom prst="ellipse">
            <a:avLst/>
          </a:prstGeom>
          <a:solidFill>
            <a:srgbClr val="2D6F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选题背景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为什么做 · 三大痛点 · 解决方案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0" cy="256032"/>
          </a:xfrm>
          <a:prstGeom prst="line">
            <a:avLst/>
          </a:prstGeom>
          <a:noFill/>
          <a:ln w="19050">
            <a:solidFill>
              <a:srgbClr val="E8ECF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011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数据与方法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双源数据 · 五层指标 · AND复合信号 · 回测引擎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651760"/>
            <a:ext cx="0" cy="256032"/>
          </a:xfrm>
          <a:prstGeom prst="line">
            <a:avLst/>
          </a:prstGeom>
          <a:noFill/>
          <a:ln w="19050">
            <a:solidFill>
              <a:srgbClr val="E8ECF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回测结果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收益对比 · 风险分析 · 样本外验证 · 敏感性分析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566160"/>
            <a:ext cx="0" cy="256032"/>
          </a:xfrm>
          <a:prstGeom prst="line">
            <a:avLst/>
          </a:prstGeom>
          <a:noFill/>
          <a:ln w="19050">
            <a:solidFill>
              <a:srgbClr val="E8ECF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548640" y="384048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工程化与结论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模块架构 · 核心结论 · 局限与展望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5603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课程覆盖矩阵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1581912"/>
            <a:ext cx="1645920" cy="274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828800"/>
            <a:ext cx="2194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L3 Pandas 数据处理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L5 sklearn 机器学习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L7 爬虫 / API 数据获取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L8 SQLite 数据库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L10 技术指标计算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L11 策略回测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D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L12 风险度量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L13 Streamlit 交付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汇报约 8 分钟  ·  13 页内容  ·  预留 Q&amp;A 时间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选题背景与核心思路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 1：择时困难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沪深300 2022-2025年间最大涨幅68%、最大跌幅32%。散户年均收益仅2.3%，跑输指数（4.8%）。择时不当是主因。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0584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 2：假信号多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纯均线MA(5,20)策略在震荡市中32次信号有19次虚假，胜率仅40%。手续费每年吃掉3.2%的年化收益。单一指标不可靠。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26480" y="10058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05840"/>
            <a:ext cx="2651760" cy="54864"/>
          </a:xfrm>
          <a:prstGeom prst="rect">
            <a:avLst/>
          </a:prstGeom>
          <a:solidFill>
            <a:srgbClr val="2D6FB5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 3：缺乏风控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买入持有策略下，招商银行2022年单年回撤达25%。没有动态仓位管理和止损机制，散户拿不住。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0" y="2743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五层AND复合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MA趋势 + MACD动能 + RSI过滤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布林带区间 + 成交量确认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3703320"/>
            <a:ext cx="36576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动态仓位管理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204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RSI驱动线性减仓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过热时仓位自然从100% → 50%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89320" y="3703320"/>
            <a:ext cx="36576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样本外验证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 完全独立数据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60个交易日最终检验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数据获取与预处理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4389120" cy="1554480"/>
        </p:xfrm>
        <a:graphic>
          <a:graphicData uri="http://schemas.openxmlformats.org/drawingml/2006/table">
            <a:tbl>
              <a:tblPr/>
              <a:tblGrid>
                <a:gridCol w="146304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akshare (主)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 A 股数据接口，前复权日线行情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baostock (备)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自动回退 + 3次重试容错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SQLite 本地库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清洗后按股票分表存储，高效复用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模拟数据 (兜底)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所有数据源不可用时保底，流程不中断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120640" y="1005840"/>
            <a:ext cx="35661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30352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选股范围（沪深300 × 6大行业）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03520" y="14173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贵州茅台 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五粮液  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伊利股份 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中国平安  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招商银行 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宁德时代  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海康威视 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恒瑞医药  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隆基绿能 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美的集团  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数据流水线 (Data Pipeline)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3154680"/>
            <a:ext cx="1234440" cy="777240"/>
          </a:xfrm>
          <a:prstGeom prst="rect">
            <a:avLst/>
          </a:prstGeom>
          <a:solidFill>
            <a:srgbClr val="2D6FB5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627632" y="32461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874520" y="3154680"/>
            <a:ext cx="1234440" cy="7772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87452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清洗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044952" y="32461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3154680"/>
            <a:ext cx="1234440" cy="7772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29184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前复权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处理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462272" y="32461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709160" y="3154680"/>
            <a:ext cx="1234440" cy="7772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0916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缺失值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填充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879592" y="32461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26480" y="3154680"/>
            <a:ext cx="1234440" cy="7772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12648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入库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296912" y="3246120"/>
            <a:ext cx="320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43800" y="3154680"/>
            <a:ext cx="1234440" cy="7772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54380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统一分析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26" name="Text 23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时间跨度：2022.01 - 2025.12 (4年, ~1000交易日)  |  </a:t>
            </a:r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样本外测试：2026 Q1 (60交易日，完全独立)  |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总数据量：约10,000行  |  前复权已统一  |  缺失值 &lt; 1%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技术指标体系 ① —— 趋势 · 动能 · 超买超卖（含数学推导）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27889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85800"/>
            <a:ext cx="2788920" cy="54864"/>
          </a:xfrm>
          <a:prstGeom prst="rect">
            <a:avLst/>
          </a:prstGeom>
          <a:solidFill>
            <a:srgbClr val="2D6FB5"/>
          </a:solidFill>
          <a:ln/>
        </p:spPr>
      </p:sp>
      <p:sp>
        <p:nvSpPr>
          <p:cNvPr id="5" name="Text 3"/>
          <p:cNvSpPr/>
          <p:nvPr/>
        </p:nvSpPr>
        <p:spPr>
          <a:xfrm>
            <a:off x="384048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移动均线 —— 趋势跟踪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234440"/>
            <a:ext cx="2560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公式推导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MAₜ(n) = (1/n) · Σᵢ₌₀ⁿ⁻¹ Pₜ₋ᵢ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Pₜ 为第 t 日收盘价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信号逻辑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sig_trend = 𝟙[MA(5) &gt; MA(20)]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快线上穿慢线 = 金叉 = 趋势向上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参数选择原理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5/20 在灵敏与稳健间最优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过快(3,10)→噪声大，过慢(20,60)→滞后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注意事项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震荡市中频繁金叉死叉 → 假信号源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必须配合其他维度过滤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685800"/>
            <a:ext cx="27889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0" y="685800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3310128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—— 动能确认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0128" y="1234440"/>
            <a:ext cx="2560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公式推导 (三步)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EMAₜ = α·Pₜ + (1-α)·EMAₜ₋₁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α_12 = 2/13, α_26 = 2/27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DIF = EMA(12) - EMA(26)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MACD柱 = 2 × (DIF - DEA)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DEA = EMA(DIF, 9)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信号逻辑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sig_momentum = 𝟙[MACD柱 &gt; 0]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柱 &gt; 0 → 动能为正，趋势有支撑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设计考量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用柱状图而非金叉——更快识别转向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横盘震荡中柱反复穿越零轴 → 单独用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不可靠，必须放入 AND 组合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685800"/>
            <a:ext cx="278892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685800"/>
            <a:ext cx="278892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6236208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—— 超买超卖 + 仓位管理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36208" y="1234440"/>
            <a:ext cx="2560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公式推导 (Wilder平滑)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= avg_gain(14) / avg_loss(14)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= 100 - 100/(1+RS) ∈ [0,100]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avg_gainₜ = (avg_gainₜ₋₁×13 + gainₜ)/14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Wilder平滑比SMA更稳定，减少毛刺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信号逻辑：sig_rsi = 𝟙[RSI &lt; 70]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≥ 70 → 超买区 → 禁止开仓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避免在顶部追高，降低回撤风险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仓位管理 (双层设计)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pos_pct = min(1, max(0.5, 1-(RSI-60)/40))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60&lt;RSI&lt;80 线性减仓至50%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RSI≥80 保留50%底仓，不再继续减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双角色：守门员(过滤信号)+调节器(仓位)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每个指标解决一个独立维度 → 趋势方向 · 动能大小 · 市场温度 → 互不重复，缺一不可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技术指标体系 ② —— 波动 · 量价 · 复合信号逻辑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85800"/>
            <a:ext cx="4160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85800"/>
            <a:ext cx="4160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布林带 (Bollinger Bands)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43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中轨 = MA(20)  |  上/下轨 = 中轨 ± 2σ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%B = (Pᶜˡᵒˢᵉ - BBˡᵒʷᵉʳ) / (BBᵘᵖᵖᵉʳ - BBˡᵒʷᵉʳ)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信号: sig_bb = 𝟙[close &gt; BBˡᵒʷᵉʳ]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收盘价必须在下轨之上——避免"接飞刀"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统计学含义: 跌破下轨 → 趋势性下跌确认或恐慌, 非均值回归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685800"/>
            <a:ext cx="41605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685800"/>
            <a:ext cx="4160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822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成交量比 (Volume Ratio)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14300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VRₜ = Vₜ / MA(Vₜ, 5)  其中 Vₜ 为日成交量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衡量当日成交活跃度相对于近5日平均水平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信号: sig_volume = 𝟙[VR &gt; 0.7]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理念: "量在价先"——无量上涨不可持续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阈值 &lt; 1 只过滤极端缩量(如长假前), 不误杀正常低量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423160"/>
            <a:ext cx="8595360" cy="246888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423160"/>
            <a:ext cx="8595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42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五层 AND 复合信号算法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290779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signal_raw =   </a:t>
            </a:r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𝟙[MA(5)&gt;MA(20)]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∧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𝟙[MACD柱&gt;0]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∧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𝟙[RSI&lt;70]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∧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𝟙[close&gt;BBˡᵒʷᵉʳ]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∧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𝟙[VR&gt;0.7]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2918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为什么是 AND 而不用 OR 或加权打分？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OR逻辑：任意一个指标看好就进场 → 信号过多(~60次/4年)，胜率&lt;35%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加权打分：权重确定困难，历史最优权重→过拟合风险，样本外衰减更严重</a:t>
            </a:r>
            <a:endParaRPr lang="en-US" sz="11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AND逻辑：全真才入场 → 信号少(14次/4年)但质量高，每个条件独立制约不同风险维度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3291840"/>
            <a:ext cx="2743200" cy="1371600"/>
          </a:xfrm>
          <a:prstGeom prst="rect">
            <a:avLst/>
          </a:prstGeom>
          <a:solidFill>
            <a:srgbClr val="122A45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33375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效果对比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35661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信号: 30 → 14 (减53%)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胜率: 40% → 62% (+55%)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1.32 → 1.85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MDD: -14.2% → -8.7%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信念: "宁不做，不瞎做"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算法实现详解 —— 信号生成 · 仓位管理 · ML增强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21792"/>
            <a:ext cx="475488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621792"/>
            <a:ext cx="4754880" cy="54864"/>
          </a:xfrm>
          <a:prstGeom prst="rect">
            <a:avLst/>
          </a:prstGeom>
          <a:solidFill>
            <a:srgbClr val="2D6FB5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7315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信号生成算法 (generate_composite_signal)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051560"/>
            <a:ext cx="4389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df (含五个指标列), 参数集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sig_trend   = (MA5 &gt; MA20).astype(int)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sig_momentum = (MACD_hist &gt; 0).astype(int)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sig_rsi     = (RSI &lt; 70).astype(int)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sig_bb      = (close &gt; BB_lower).astype(int)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sig_volume  = (VR &gt; 0.7).astype(int)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signal_raw  = sig1 &amp; sig2 &amp; sig3 &amp; sig4 &amp; sig5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全为True才=1, 否则=0 (AND短路逻辑)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做空信号 (可选, enable_short=False默认关闭)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short = 𝟙[RSI&gt;70 &amp; MACD&lt;0 &amp; close&lt;MA20 &amp; BB突破]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结果 × (-1), 空头信号标记为-1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212080" y="621792"/>
            <a:ext cx="365760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212080" y="621792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731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仓位管理算法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49240" y="105156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RSI驱动线性减仓函数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f(RSI):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RSI ≤ 60:    return 1.0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RSI ≥ 80:    return 0.5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1 - (RSI-60)/40  // linear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最终仓位向量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= signal_raw × f(RSI)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效果: RSI低→满仓出击, RSI高→自动减仓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50%底仓保证不完全踏空,平衡收益与风险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纯数值运算(无循环), O(n) 时间复杂度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3017520"/>
            <a:ext cx="8595360" cy="1965960"/>
          </a:xfrm>
          <a:prstGeom prst="rect">
            <a:avLst/>
          </a:prstGeom>
          <a:solidFill>
            <a:srgbClr val="0B1D3A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3017520"/>
            <a:ext cx="85953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27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ML增强模块 (sklearn LogisticRegression)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40156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特征: ret_1, ret_5, ret_20, vol_ret, RSI, MACD_hist, %B  (7维)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标签: target = 𝟙[closeₜ₊₁ &gt; closeₜ]  (次日涨跌二分类)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训练: TimeSeriesSplit(5折) 时序交叉验证, 不打乱顺序 → 防前视偏差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预测: ml_pred ∈ {0,1}, 预测次日上涨=1, 可作为第六层AND过滤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现状: 默认不启用(保持策略简洁), 但框架支持一键开启; ML准确率~55-60%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回测核心: shift(1) 防未来函数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0" y="3401568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关键代码: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 = np.roll(signal, 1)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position[0] = 0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原理: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t日收盘后算出的信号 → t+1日执行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若不做shift: t日信号交易t日 → 已知今日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EC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收盘价再买入 → 严重高估收益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收益被高估5-8个百分点!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回测引擎与风控体系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4864" cy="1920240"/>
          </a:xfrm>
          <a:prstGeom prst="rect">
            <a:avLst/>
          </a:prstGeom>
          <a:solidFill>
            <a:srgbClr val="2D6F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回测引擎 —— 核心逻辑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np.roll(signal, 1) + position[0]=0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今天信号，明天交易，杜绝未来函数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动态手续费：仓位变化时才扣 0.05% 单边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买入持有基准：净值 = (1+日收益率)的累积乘积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超额收益 = 策略收益 - 基准收益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"shift(1) 是回测的命根子" —— 没有这一步，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收益会被高估 5-8 个百分点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54864" cy="1920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止损止盈三维度防线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固定止损 -8%：单笔亏损超 8% 强制平仓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固定止盈 +25%：单笔盈利超 25% 锁定利润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追踪止损 -6%：从最高点回撤 6% 即平仓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保护浮盈，不把赚钱的单拿成亏钱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做空信号（框架支持，默认关闭）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RSI&gt;70 + MACD&lt;0 + 跌破MA20 + BB跌破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8412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200400"/>
            <a:ext cx="54864" cy="1645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动态仓位管理 —— RSI 驱动的线性减仓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仓位公式:  position = signal_raw × f(RSI)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f(RSI) = 1.0                           (RSI ≤ 60)  ← 满仓出击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f(RSI) = 1.0 - (RSI-60)/40            (60&lt;RSI&lt;80)  ← 线性递减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f(RSI) = 0.5                           (RSI ≥ 80)  ← 底仓保护，只留50%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效果：上涨时参与，过热时自动减仓。在不牺牲收益的前提下，最大回撤从 -12% 降至 -8.7%。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回测结果 —— 数据说话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+35.2%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策略累计收益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184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 22.1%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3120" y="868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F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1.85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夏普比率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03120" y="16184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 0.62 (×3)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749040" y="868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-8.7%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4904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最大回撤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16184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基准 -18.3% (收窄52%)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94960" y="868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3~4次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年交易次数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94960" y="16184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纯均线 8次/年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040880" y="868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FB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62.3%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040880" y="1371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胜率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40880" y="16184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盈亏比 2.15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8229600" cy="164592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097280"/>
                <a:gridCol w="1097280"/>
                <a:gridCol w="822960"/>
                <a:gridCol w="1097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策略收益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基准收益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MDD改善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贵州茅台 (消费)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招商银行 (金融)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宁德时代 (科技)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美的集团 (家电)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海康威视 (科技)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关键观察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379476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行业普适性：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消费、金融、科技、家电、安防多行业均正超额，策略通用性强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0080" y="40690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回撤一致性：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MDD改善 48%-53%，AND低换手机制在下跌市自然空仓 → 熊市保护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4343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超额稳健性：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没有出现"某只策略跑输基准20%"的极端情形 → 未过拟合单标的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0080" y="46177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对比单一指标：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复合策略在收益(+35.2%)、Sharpe(1.85)、MDD(-8.7%)、交易次数(14) 全面碾压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稳健性验证：敏感性分析 &amp; 样本外测试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MA参数敏感性 (茅台)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15568"/>
          <a:ext cx="3931920" cy="123444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MA(快,慢)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(3, 15)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(5, 20)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(10, 30)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(10, 60)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-6.1%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822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RSI阈值敏感性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15568"/>
          <a:ext cx="3931920" cy="77724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RSI阈值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收益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+38.1%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样本外验证 (2026 Q1, 60交易日, 完全独立)</a:t>
            </a:r>
            <a:endParaRPr lang="en-US" sz="14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868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6916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策略收益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基准收益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超额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样本外Sharpe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贵州茅台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招商银行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宁德时代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5"/>
          <p:cNvSpPr/>
          <p:nvPr/>
        </p:nvSpPr>
        <p:spPr>
          <a:xfrm>
            <a:off x="640080" y="38862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样本外结论：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5只标的超额全部为正。Sharpe从1.6-1.8衰减至1.2-1.5，但仍显著高于基准(0.5-0.7)。</a:t>
            </a:r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衰减在量化策略中是正常且预期的——重要的是它仍然有效。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4754880" y="1993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vs单一指标：复合策略在所有维度上全面优于纯MA、纯MACD、纯RSI，验证"组合优于个体"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5720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核心信息：我们的参数不是拍脑袋选的，有数据支撑。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工程化亮点与软件实践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54864" cy="1463040"/>
          </a:xfrm>
          <a:prstGeom prst="rect">
            <a:avLst/>
          </a:prstGeom>
          <a:solidFill>
            <a:srgbClr val="2D6FB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配置驱动 (config.yaml)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所有参数集中在 YAML 配置文件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改一个数字全链路生效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包含策略、风控、数据、回测、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输出、优化六类配置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支持参数优化网格搜索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914400"/>
            <a:ext cx="2606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54680" y="914400"/>
            <a:ext cx="54864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10058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39 个单元测试全部通过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覆盖：指标计算 / 风险度量 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信号生成 / 止损止盈四大模块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2.93秒跑完，零失败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专门测试 shift(1) 防未来函数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代码质量底线保障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914400"/>
            <a:ext cx="2834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91440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005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自动化输出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325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自动报告一键生成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交互图表自动保存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CSV/JSON 多格式导出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完整开源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一键安装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8412480" cy="2286000"/>
          </a:xfrm>
          <a:prstGeom prst="rect">
            <a:avLst/>
          </a:prstGeom>
          <a:solidFill>
            <a:srgbClr val="0B1D3A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06040"/>
            <a:ext cx="84124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双模式 Streamlit Dashboard (亮点)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" y="315468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预计算模式（快速）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秒级展示净值曲线、回撤、RSI、MACD 等指标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所有标的预计算数据，下拉即可切换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实时重算模式（可调参数）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拖动 MA/RSI/止损 滑块，点击"运行回测"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2秒内生成新的净值曲线和指标图表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模块架构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20640" y="310896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data_fetcher.py    数据获取/清洗/入库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indicators.py        技术指标计算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strategy.py           信号构建/回测引擎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risk_metrics.py     风险度量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run_backtest.py   一键运行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dashboard_v2.py  交互平台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源码 8 个核心模块 · 输出 49 个文件 · 5000+ 字报告 · 端到端项目闭环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核心结论与局限性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五个核心结论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07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18872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复合信号全面优于单一指标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——  收益+35.2%、Sharpe 1.85、MDD -8.7% 三维碾压纯MA/MACD/RSI。AND逻辑过滤假信号。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2763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动态仓位有效控制回撤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——  RSI驱动线性减仓：MDD从-12%降至-8.7%。上涨参与，过热减仓。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066544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低换手是核心优势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——  年均3-4次交易，手续费极低，避免行为偏差，复利效应更稳定。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23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50545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策略具有初步稳健性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——  10只标的正超额，样本外全部为正。多行业适用，未灾难性失效。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292608" cy="29260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62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29443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端到端闭环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——  数据(L7) → 清洗(L3) → 入库(L8) → 指标(L10) → 回测(L11) → 风控(L12) → Dashboard交付(L13)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56432"/>
            <a:ext cx="8229600" cy="27432"/>
          </a:xfrm>
          <a:prstGeom prst="rect">
            <a:avLst/>
          </a:prstGeom>
          <a:solidFill>
            <a:srgbClr val="E8ECF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局限性（诚实列表——量化研究的基本素养）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单边做多限制：仅上涨市有效，无法在大熊市中做空获利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样本跨度不足：4年数据未覆盖极端市场（2008危机、2015股灾）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参数过拟合风险：样本外Sharp从1.85降至~1.3，这是正常的衰减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幸存者偏差：所选均为当前沪深300"幸存者"，淘汰者不在列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交易执行未建模：冲击成本、涨跌停限制、最小交易单位未考虑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单标的通用性不足：同一套参数不能保证在全部5000+A股上有效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"量化研究的素养不是'我的策略完美'，而是'我知道它哪里不完美'"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0B98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请评委老师提问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2286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GitHub：</a:t>
            </a:r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github.com/7changecahng/quant-strategy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(代码 + README + 39个测试)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Dashboard：</a:t>
            </a:r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http://localhost:8501  (现场运行中)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完整代码 · 39个测试 · 参数可调 · 样本外验证 · 开源可复现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多因子量化策略分析平台 - 答辩PPT</dc:title>
  <dc:subject>PptxGenJS Presentation</dc:subject>
  <dc:creator>量化策略项目组</dc:creator>
  <cp:lastModifiedBy>量化策略项目组</cp:lastModifiedBy>
  <cp:revision>1</cp:revision>
  <dcterms:created xsi:type="dcterms:W3CDTF">2026-06-23T15:32:42Z</dcterms:created>
  <dcterms:modified xsi:type="dcterms:W3CDTF">2026-06-23T15:32:42Z</dcterms:modified>
</cp:coreProperties>
</file>